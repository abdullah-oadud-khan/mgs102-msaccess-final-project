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Ubuntu" panose="020B0504030602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E12A6-7184-ADD8-761B-815C22EFD5A4}" v="34" dt="2026-04-28T19:10:36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7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62588" y="6683166"/>
            <a:ext cx="8565447" cy="51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Presented by </a:t>
            </a:r>
            <a:r>
              <a:rPr lang="en-US" sz="3699">
                <a:solidFill>
                  <a:srgbClr val="005EDD"/>
                </a:solidFill>
                <a:latin typeface="Ubuntu"/>
                <a:ea typeface="Ubuntu"/>
                <a:cs typeface="Ubuntu"/>
                <a:sym typeface="Ubuntu"/>
              </a:rPr>
              <a:t>Harborview Services</a:t>
            </a:r>
          </a:p>
        </p:txBody>
      </p:sp>
      <p:sp>
        <p:nvSpPr>
          <p:cNvPr id="3" name="Freeform 3"/>
          <p:cNvSpPr/>
          <p:nvPr/>
        </p:nvSpPr>
        <p:spPr>
          <a:xfrm>
            <a:off x="2506115" y="2913992"/>
            <a:ext cx="3235724" cy="3757081"/>
          </a:xfrm>
          <a:custGeom>
            <a:avLst/>
            <a:gdLst/>
            <a:ahLst/>
            <a:cxnLst/>
            <a:rect l="l" t="t" r="r" b="b"/>
            <a:pathLst>
              <a:path w="3235724" h="3757081">
                <a:moveTo>
                  <a:pt x="0" y="0"/>
                </a:moveTo>
                <a:lnTo>
                  <a:pt x="3235724" y="0"/>
                </a:lnTo>
                <a:lnTo>
                  <a:pt x="3235724" y="3757081"/>
                </a:lnTo>
                <a:lnTo>
                  <a:pt x="0" y="3757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183962" y="5380515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901238" y="5104529"/>
            <a:ext cx="7967162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FA881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Excellent</a:t>
            </a:r>
            <a:r>
              <a:rPr lang="en-US" sz="9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NYC</a:t>
            </a:r>
            <a:endParaRPr lang="en-US" sz="9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Freeform 6"/>
          <p:cNvSpPr/>
          <p:nvPr/>
        </p:nvSpPr>
        <p:spPr>
          <a:xfrm rot="5400000">
            <a:off x="-1110902" y="-2757353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6"/>
                </a:lnTo>
                <a:lnTo>
                  <a:pt x="0" y="5514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995076" y="-2629267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5"/>
                </a:lnTo>
                <a:lnTo>
                  <a:pt x="0" y="5514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3432758"/>
            <a:ext cx="16230600" cy="561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414" lvl="1" indent="-374207" algn="l">
              <a:lnSpc>
                <a:spcPts val="4853"/>
              </a:lnSpc>
              <a:buFont typeface="Arial"/>
              <a:buChar char="•"/>
            </a:pPr>
            <a:r>
              <a:rPr lang="en-US" sz="346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ExcellentNYC</a:t>
            </a:r>
            <a:r>
              <a:rPr lang="en-US" sz="34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 a New York-based organization currently employing 38 employees.</a:t>
            </a:r>
          </a:p>
          <a:p>
            <a:pPr algn="l">
              <a:lnSpc>
                <a:spcPts val="4853"/>
              </a:lnSpc>
            </a:pPr>
            <a:endParaRPr lang="en-US" sz="34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48414" lvl="1" indent="-374207" algn="l">
              <a:lnSpc>
                <a:spcPts val="4853"/>
              </a:lnSpc>
              <a:buFont typeface="Arial"/>
              <a:buChar char="•"/>
            </a:pPr>
            <a:r>
              <a:rPr lang="en-US" sz="34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Harborview Services helps businesses improve their operational efficiency through better data management.</a:t>
            </a:r>
          </a:p>
          <a:p>
            <a:pPr algn="l">
              <a:lnSpc>
                <a:spcPts val="4853"/>
              </a:lnSpc>
            </a:pPr>
            <a:endParaRPr lang="en-US" sz="34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48414" lvl="1" indent="-374207" algn="l">
              <a:lnSpc>
                <a:spcPts val="4853"/>
              </a:lnSpc>
              <a:buFont typeface="Arial"/>
              <a:buChar char="•"/>
            </a:pPr>
            <a:r>
              <a:rPr lang="en-US" sz="346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initiative focuses on fixing time and attendance tracking to eliminate manual errors.</a:t>
            </a:r>
          </a:p>
          <a:p>
            <a:pPr algn="l">
              <a:lnSpc>
                <a:spcPts val="4853"/>
              </a:lnSpc>
            </a:pPr>
            <a:endParaRPr lang="en-US" sz="3466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8530" y="895350"/>
            <a:ext cx="16090940" cy="1226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6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Organizing growth for Excellent NYC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6062" y="1270605"/>
            <a:ext cx="1341587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Problem 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995076" y="-2629267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5"/>
                </a:lnTo>
                <a:lnTo>
                  <a:pt x="0" y="5514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44526" y="3323540"/>
            <a:ext cx="16230600" cy="561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3"/>
              </a:lnSpc>
            </a:pPr>
            <a:r>
              <a:rPr lang="en-US" sz="34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ExcellentNYC does not have a standardized system for recording hours and attendance. </a:t>
            </a:r>
          </a:p>
          <a:p>
            <a:pPr marL="748030" lvl="1" indent="-374015" algn="l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Scheduling conflicts </a:t>
            </a:r>
            <a:endParaRPr lang="en-US" sz="3466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marL="748030" lvl="1" indent="-374015" algn="l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Misplaced hours</a:t>
            </a:r>
            <a:endParaRPr lang="en-US" sz="3466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marL="748030" lvl="1" indent="-374015" algn="l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Inefficient staffing</a:t>
            </a:r>
            <a:endParaRPr lang="en-US" sz="3466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marL="748030" lvl="1" indent="-374015" algn="l">
              <a:lnSpc>
                <a:spcPts val="4853"/>
              </a:lnSpc>
              <a:buFont typeface="Arial"/>
              <a:buChar char="•"/>
            </a:pPr>
            <a:r>
              <a:rPr lang="en-US" sz="34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Payroll errors</a:t>
            </a:r>
            <a:endParaRPr lang="en-US" sz="3466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algn="l">
              <a:lnSpc>
                <a:spcPts val="4853"/>
              </a:lnSpc>
            </a:pPr>
            <a:r>
              <a:rPr lang="en-US" sz="346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issues not only take valuable time away from managers dealing with disputes but also discourage employees from being prompt and consistent because management struggles with its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1110902" y="-2757353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6"/>
                </a:lnTo>
                <a:lnTo>
                  <a:pt x="0" y="551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12" y="1337280"/>
            <a:ext cx="18276295" cy="1009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Effective Data</a:t>
            </a:r>
          </a:p>
        </p:txBody>
      </p:sp>
      <p:sp>
        <p:nvSpPr>
          <p:cNvPr id="4" name="Freeform 4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12870207">
            <a:off x="12292833" y="-2727780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30381" y="2489078"/>
            <a:ext cx="8713619" cy="643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a sample study done by ExcellentNYC, it revealed:</a:t>
            </a:r>
          </a:p>
          <a:p>
            <a:pPr algn="l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average of 72 hours is missing every month, totaling 432 hours.</a:t>
            </a:r>
          </a:p>
          <a:p>
            <a:pPr algn="l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Inaccurate tracking cost the company between $9,500 and $11,000 this quarter.</a:t>
            </a:r>
          </a:p>
          <a:p>
            <a:pPr algn="l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conflicts over 3 months: 108 conflicts.</a:t>
            </a:r>
          </a:p>
          <a:p>
            <a:pPr algn="l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Managers spend 6–8 hours every week manually fixing records.</a:t>
            </a:r>
          </a:p>
          <a:p>
            <a:pPr algn="l">
              <a:lnSpc>
                <a:spcPts val="3360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18165" lvl="1" indent="-259082" algn="l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22% of shifts require last-minute changes.</a:t>
            </a:r>
          </a:p>
          <a:p>
            <a:pPr algn="ctr">
              <a:lnSpc>
                <a:spcPts val="4759"/>
              </a:lnSpc>
            </a:pPr>
            <a:endParaRPr lang="en-US" sz="24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755530" y="2346932"/>
            <a:ext cx="7912121" cy="6362664"/>
          </a:xfrm>
          <a:custGeom>
            <a:avLst/>
            <a:gdLst/>
            <a:ahLst/>
            <a:cxnLst/>
            <a:rect l="l" t="t" r="r" b="b"/>
            <a:pathLst>
              <a:path w="7912121" h="6362664">
                <a:moveTo>
                  <a:pt x="0" y="0"/>
                </a:moveTo>
                <a:lnTo>
                  <a:pt x="7912120" y="0"/>
                </a:lnTo>
                <a:lnTo>
                  <a:pt x="7912120" y="6362663"/>
                </a:lnTo>
                <a:lnTo>
                  <a:pt x="0" y="6362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03908" cy="1746226"/>
          </a:xfrm>
          <a:custGeom>
            <a:avLst/>
            <a:gdLst/>
            <a:ahLst/>
            <a:cxnLst/>
            <a:rect l="l" t="t" r="r" b="b"/>
            <a:pathLst>
              <a:path w="1503908" h="1746226">
                <a:moveTo>
                  <a:pt x="0" y="0"/>
                </a:moveTo>
                <a:lnTo>
                  <a:pt x="1503908" y="0"/>
                </a:lnTo>
                <a:lnTo>
                  <a:pt x="1503908" y="1746226"/>
                </a:lnTo>
                <a:lnTo>
                  <a:pt x="0" y="174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436062" y="1270605"/>
            <a:ext cx="1341587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-1110902" y="-2757353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6"/>
                </a:lnTo>
                <a:lnTo>
                  <a:pt x="0" y="5514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192267" y="3457757"/>
            <a:ext cx="17095733" cy="79608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information system uses Microsoft Access to develop a timesheet and attendance management solution. </a:t>
            </a:r>
          </a:p>
          <a:p>
            <a:pPr>
              <a:lnSpc>
                <a:spcPts val="4759"/>
              </a:lnSpc>
            </a:pPr>
            <a:endParaRPr lang="en-US" sz="335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3425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records employee data, clock-in and clock-out times, and payroll hours. The system improves staffing efficiency and reduces scheduling conflicts.</a:t>
            </a: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marL="733425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solution minimizes human error in payroll and time tracking, enhancing overall productivity. </a:t>
            </a: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marL="733425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5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also establishes a standardized framework that can be scaled to additional locations in the future.</a:t>
            </a:r>
            <a:endParaRPr lang="en-US" sz="3350" dirty="0">
              <a:solidFill>
                <a:srgbClr val="000000"/>
              </a:solidFill>
              <a:latin typeface="Canva Sans"/>
              <a:ea typeface="Canva Sans"/>
              <a:cs typeface="Canva Sans"/>
            </a:endParaRP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03908" cy="1746226"/>
          </a:xfrm>
          <a:custGeom>
            <a:avLst/>
            <a:gdLst/>
            <a:ahLst/>
            <a:cxnLst/>
            <a:rect l="l" t="t" r="r" b="b"/>
            <a:pathLst>
              <a:path w="1503908" h="1746226">
                <a:moveTo>
                  <a:pt x="0" y="0"/>
                </a:moveTo>
                <a:lnTo>
                  <a:pt x="1503908" y="0"/>
                </a:lnTo>
                <a:lnTo>
                  <a:pt x="1503908" y="1746226"/>
                </a:lnTo>
                <a:lnTo>
                  <a:pt x="0" y="174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436062" y="1270605"/>
            <a:ext cx="1341587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 Diagram/Table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-1110902" y="-2757353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6"/>
                </a:lnTo>
                <a:lnTo>
                  <a:pt x="0" y="5514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491794" y="3002739"/>
            <a:ext cx="12216767" cy="7008979"/>
          </a:xfrm>
          <a:custGeom>
            <a:avLst/>
            <a:gdLst/>
            <a:ahLst/>
            <a:cxnLst/>
            <a:rect l="l" t="t" r="r" b="b"/>
            <a:pathLst>
              <a:path w="12216767" h="7008979">
                <a:moveTo>
                  <a:pt x="0" y="0"/>
                </a:moveTo>
                <a:lnTo>
                  <a:pt x="12216767" y="0"/>
                </a:lnTo>
                <a:lnTo>
                  <a:pt x="12216767" y="7008979"/>
                </a:lnTo>
                <a:lnTo>
                  <a:pt x="0" y="7008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03908" cy="1746226"/>
          </a:xfrm>
          <a:custGeom>
            <a:avLst/>
            <a:gdLst/>
            <a:ahLst/>
            <a:cxnLst/>
            <a:rect l="l" t="t" r="r" b="b"/>
            <a:pathLst>
              <a:path w="1503908" h="1746226">
                <a:moveTo>
                  <a:pt x="0" y="0"/>
                </a:moveTo>
                <a:lnTo>
                  <a:pt x="1503908" y="0"/>
                </a:lnTo>
                <a:lnTo>
                  <a:pt x="1503908" y="1746226"/>
                </a:lnTo>
                <a:lnTo>
                  <a:pt x="0" y="174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436062" y="1270605"/>
            <a:ext cx="1341587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Flowchart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-1110902" y="-2757353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6"/>
                </a:lnTo>
                <a:lnTo>
                  <a:pt x="0" y="5514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82861" y="3183395"/>
            <a:ext cx="17922278" cy="6302668"/>
          </a:xfrm>
          <a:custGeom>
            <a:avLst/>
            <a:gdLst/>
            <a:ahLst/>
            <a:cxnLst/>
            <a:rect l="l" t="t" r="r" b="b"/>
            <a:pathLst>
              <a:path w="17922278" h="6302668">
                <a:moveTo>
                  <a:pt x="0" y="0"/>
                </a:moveTo>
                <a:lnTo>
                  <a:pt x="17922278" y="0"/>
                </a:lnTo>
                <a:lnTo>
                  <a:pt x="17922278" y="6302668"/>
                </a:lnTo>
                <a:lnTo>
                  <a:pt x="0" y="63026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03908" cy="1746226"/>
          </a:xfrm>
          <a:custGeom>
            <a:avLst/>
            <a:gdLst/>
            <a:ahLst/>
            <a:cxnLst/>
            <a:rect l="l" t="t" r="r" b="b"/>
            <a:pathLst>
              <a:path w="1503908" h="1746226">
                <a:moveTo>
                  <a:pt x="0" y="0"/>
                </a:moveTo>
                <a:lnTo>
                  <a:pt x="1503908" y="0"/>
                </a:lnTo>
                <a:lnTo>
                  <a:pt x="1503908" y="1746226"/>
                </a:lnTo>
                <a:lnTo>
                  <a:pt x="0" y="174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436062" y="1270605"/>
            <a:ext cx="13415876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-1110902" y="-2757353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6"/>
                </a:lnTo>
                <a:lnTo>
                  <a:pt x="0" y="5514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2770474"/>
            <a:ext cx="18288000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Reduced Error &amp; Cost: Addresses the estimated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$9,500–$11,000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lost to missing hours and payroll inaccuracies over a 3-month period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Management Efficiency: Eliminates the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6–8 hours per week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managers currently spend manually fixing schedules. 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Improved Staffing: Targets the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22% of shifts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currently require last-minute changes due to the lack of a standardized system.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Growth: Replaces manual processes with a standardized Microsoft Access framework that supports future growth to additional locations.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03908" cy="1746226"/>
          </a:xfrm>
          <a:custGeom>
            <a:avLst/>
            <a:gdLst/>
            <a:ahLst/>
            <a:cxnLst/>
            <a:rect l="l" t="t" r="r" b="b"/>
            <a:pathLst>
              <a:path w="1503908" h="1746226">
                <a:moveTo>
                  <a:pt x="0" y="0"/>
                </a:moveTo>
                <a:lnTo>
                  <a:pt x="1503908" y="0"/>
                </a:lnTo>
                <a:lnTo>
                  <a:pt x="1503908" y="1746226"/>
                </a:lnTo>
                <a:lnTo>
                  <a:pt x="0" y="174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-1110902" y="-2757353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6"/>
                </a:lnTo>
                <a:lnTo>
                  <a:pt x="0" y="5514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895794" y="3568358"/>
            <a:ext cx="6496411" cy="2701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0"/>
              </a:lnSpc>
            </a:pPr>
            <a:r>
              <a:rPr lang="en-US" sz="139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03908" cy="1746226"/>
          </a:xfrm>
          <a:custGeom>
            <a:avLst/>
            <a:gdLst/>
            <a:ahLst/>
            <a:cxnLst/>
            <a:rect l="l" t="t" r="r" b="b"/>
            <a:pathLst>
              <a:path w="1503908" h="1746226">
                <a:moveTo>
                  <a:pt x="0" y="0"/>
                </a:moveTo>
                <a:lnTo>
                  <a:pt x="1503908" y="0"/>
                </a:lnTo>
                <a:lnTo>
                  <a:pt x="1503908" y="1746226"/>
                </a:lnTo>
                <a:lnTo>
                  <a:pt x="0" y="174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391817" y="1292844"/>
            <a:ext cx="1427866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improvements 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-1110902" y="-2757353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6"/>
                </a:lnTo>
                <a:lnTo>
                  <a:pt x="0" y="5514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285298" y="3315624"/>
            <a:ext cx="9925465" cy="549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PayRoll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into a Table​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Schedule and Shift relationship. Instead of rolling schedule objects, it can be set 4/16/2026 to Thursday​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Employee can choose work location ​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a login for Employee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Attendance &amp; Performance Tracking​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an in-depth Menu​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503908" cy="1746226"/>
          </a:xfrm>
          <a:custGeom>
            <a:avLst/>
            <a:gdLst/>
            <a:ahLst/>
            <a:cxnLst/>
            <a:rect l="l" t="t" r="r" b="b"/>
            <a:pathLst>
              <a:path w="1503908" h="1746226">
                <a:moveTo>
                  <a:pt x="0" y="0"/>
                </a:moveTo>
                <a:lnTo>
                  <a:pt x="1503908" y="0"/>
                </a:lnTo>
                <a:lnTo>
                  <a:pt x="1503908" y="1746226"/>
                </a:lnTo>
                <a:lnTo>
                  <a:pt x="0" y="174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-1110902" y="-2757353"/>
            <a:ext cx="4279204" cy="5514705"/>
          </a:xfrm>
          <a:custGeom>
            <a:avLst/>
            <a:gdLst/>
            <a:ahLst/>
            <a:cxnLst/>
            <a:rect l="l" t="t" r="r" b="b"/>
            <a:pathLst>
              <a:path w="4279204" h="5514705">
                <a:moveTo>
                  <a:pt x="0" y="0"/>
                </a:moveTo>
                <a:lnTo>
                  <a:pt x="4279204" y="0"/>
                </a:lnTo>
                <a:lnTo>
                  <a:pt x="4279204" y="5514706"/>
                </a:lnTo>
                <a:lnTo>
                  <a:pt x="0" y="5514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-1569" r="-1569" b="-78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111307">
            <a:off x="14926014" y="6328119"/>
            <a:ext cx="4456177" cy="6315888"/>
          </a:xfrm>
          <a:custGeom>
            <a:avLst/>
            <a:gdLst/>
            <a:ahLst/>
            <a:cxnLst/>
            <a:rect l="l" t="t" r="r" b="b"/>
            <a:pathLst>
              <a:path w="4456177" h="6315888">
                <a:moveTo>
                  <a:pt x="0" y="0"/>
                </a:moveTo>
                <a:lnTo>
                  <a:pt x="4456177" y="0"/>
                </a:lnTo>
                <a:lnTo>
                  <a:pt x="4456177" y="6315888"/>
                </a:lnTo>
                <a:lnTo>
                  <a:pt x="0" y="6315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8729793">
            <a:off x="11491665" y="-2599593"/>
            <a:ext cx="6433793" cy="8127774"/>
          </a:xfrm>
          <a:custGeom>
            <a:avLst/>
            <a:gdLst/>
            <a:ahLst/>
            <a:cxnLst/>
            <a:rect l="l" t="t" r="r" b="b"/>
            <a:pathLst>
              <a:path w="6433793" h="8127774">
                <a:moveTo>
                  <a:pt x="0" y="0"/>
                </a:moveTo>
                <a:lnTo>
                  <a:pt x="6433793" y="0"/>
                </a:lnTo>
                <a:lnTo>
                  <a:pt x="6433793" y="8127774"/>
                </a:lnTo>
                <a:lnTo>
                  <a:pt x="0" y="8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</a:blip>
            <a:stretch>
              <a:fillRect t="-3368" b="-33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612826" y="7725805"/>
            <a:ext cx="3225653" cy="4571825"/>
          </a:xfrm>
          <a:custGeom>
            <a:avLst/>
            <a:gdLst/>
            <a:ahLst/>
            <a:cxnLst/>
            <a:rect l="l" t="t" r="r" b="b"/>
            <a:pathLst>
              <a:path w="3225653" h="4571825">
                <a:moveTo>
                  <a:pt x="0" y="0"/>
                </a:moveTo>
                <a:lnTo>
                  <a:pt x="3225652" y="0"/>
                </a:lnTo>
                <a:lnTo>
                  <a:pt x="3225652" y="4571826"/>
                </a:lnTo>
                <a:lnTo>
                  <a:pt x="0" y="4571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986664" y="4819967"/>
            <a:ext cx="9110335" cy="426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 dirty="0"/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716-536-8660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Harborview@gmail.com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742 Evergreen Terrace Buffalo, NY 14214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12205" y="1794587"/>
            <a:ext cx="5863590" cy="1532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88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86665" y="4563110"/>
            <a:ext cx="831467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Connect with us</a:t>
            </a:r>
          </a:p>
        </p:txBody>
      </p:sp>
      <p:sp>
        <p:nvSpPr>
          <p:cNvPr id="10" name="Freeform 10"/>
          <p:cNvSpPr/>
          <p:nvPr/>
        </p:nvSpPr>
        <p:spPr>
          <a:xfrm>
            <a:off x="4139387" y="5476372"/>
            <a:ext cx="615066" cy="615066"/>
          </a:xfrm>
          <a:custGeom>
            <a:avLst/>
            <a:gdLst/>
            <a:ahLst/>
            <a:cxnLst/>
            <a:rect l="l" t="t" r="r" b="b"/>
            <a:pathLst>
              <a:path w="615066" h="615066">
                <a:moveTo>
                  <a:pt x="0" y="0"/>
                </a:moveTo>
                <a:lnTo>
                  <a:pt x="615066" y="0"/>
                </a:lnTo>
                <a:lnTo>
                  <a:pt x="615066" y="615065"/>
                </a:lnTo>
                <a:lnTo>
                  <a:pt x="0" y="615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131501" y="6632249"/>
            <a:ext cx="622951" cy="622951"/>
          </a:xfrm>
          <a:custGeom>
            <a:avLst/>
            <a:gdLst/>
            <a:ahLst/>
            <a:cxnLst/>
            <a:rect l="l" t="t" r="r" b="b"/>
            <a:pathLst>
              <a:path w="622951" h="622951">
                <a:moveTo>
                  <a:pt x="0" y="0"/>
                </a:moveTo>
                <a:lnTo>
                  <a:pt x="622952" y="0"/>
                </a:lnTo>
                <a:lnTo>
                  <a:pt x="622952" y="622952"/>
                </a:lnTo>
                <a:lnTo>
                  <a:pt x="0" y="622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139387" y="7798126"/>
            <a:ext cx="622951" cy="622951"/>
          </a:xfrm>
          <a:custGeom>
            <a:avLst/>
            <a:gdLst/>
            <a:ahLst/>
            <a:cxnLst/>
            <a:rect l="l" t="t" r="r" b="b"/>
            <a:pathLst>
              <a:path w="622951" h="622951">
                <a:moveTo>
                  <a:pt x="0" y="0"/>
                </a:moveTo>
                <a:lnTo>
                  <a:pt x="622951" y="0"/>
                </a:lnTo>
                <a:lnTo>
                  <a:pt x="622951" y="622951"/>
                </a:lnTo>
                <a:lnTo>
                  <a:pt x="0" y="6229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Custom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Ubuntu</vt:lpstr>
      <vt:lpstr>Canva Sans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Final/Demo Presentaiton</dc:title>
  <dc:creator/>
  <cp:keywords>MGS 102</cp:keywords>
  <cp:lastModifiedBy/>
  <cp:revision>1</cp:revision>
  <dcterms:created xsi:type="dcterms:W3CDTF">2026-06-09T23:08:09Z</dcterms:created>
  <dcterms:modified xsi:type="dcterms:W3CDTF">2026-06-09T23:09:36Z</dcterms:modified>
  <dc:identifier/>
</cp:coreProperties>
</file>